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6B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尊嚴農業</a:t>
            </a:r>
            <a:br/>
            <a:r>
              <a:t>網站架構與內容說明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DDEDBB"/>
                </a:solidFill>
              </a:defRPr>
            </a:pPr>
            <a:r>
              <a:t>農業尊嚴：共建雲嘉農業工作者職業健康社會安全網</a:t>
            </a:r>
            <a:br/>
            <a:r>
              <a:t>國立中正大學 × 臺大醫院雲林分院｜嘉義縣民雄鄉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ACC77"/>
                </a:solidFill>
              </a:defRPr>
            </a:pPr>
            <a:r>
              <a:t>Knowledge Hub for Agricultural Health &amp; Safety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86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6B05"/>
                </a:solidFill>
              </a:defRPr>
            </a:pPr>
            <a:r>
              <a:t>為什麼需要這個網站？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828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台灣農業面臨的嚴峻挑戰：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農保被保險人平均年齡 67.3 歲 — 農業勞動力高度老化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農業致死率為全行業平均的 5 倍（CDC/NIOSH, 2024）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全球每年約 38.5 萬例急性農藥中毒（ILO）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農民職業災害保險投保率僅約 30%（勞保局統計）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農業致死者中 56% 年齡 ≥ 55 歲（CDC/NIOSH）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傳統農業資訊網站的問題：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政令宣導式條列網頁，缺乏分眾設計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資訊被動、單向，無互動工具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缺乏國際數據佐證與學術嚴謹度</a:t>
            </a:r>
          </a:p>
          <a:p>
            <a:pPr>
              <a:spcBef>
                <a:spcPts val="1600"/>
              </a:spcBef>
              <a:defRPr sz="1200" i="1">
                <a:solidFill>
                  <a:srgbClr val="6B7280"/>
                </a:solidFill>
              </a:defRPr>
            </a:pPr>
            <a:r>
              <a:t>資料來源：CDC/NIOSH (2024), ILO (2023), WHO (2022), 台灣農保統計, 勞保局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尊嚴農業 — 農業健康與安全知識樞紐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86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6B05"/>
                </a:solidFill>
              </a:defRPr>
            </a:pPr>
            <a:r>
              <a:t>解決方案：矩陣式資訊架構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828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F2937"/>
                </a:solidFill>
              </a:defRPr>
            </a:pPr>
            <a:r>
              <a:t>首頁＝分流大廳（The Lobby）</a:t>
            </a:r>
          </a:p>
          <a:p>
            <a:pPr>
              <a:defRPr sz="1400">
                <a:solidFill>
                  <a:srgbClr val="6B7280"/>
                </a:solidFill>
              </a:defRPr>
            </a:pPr>
            <a:r>
              <a:t>降低認知負荷，精準內容策展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2286000" cy="731520"/>
          </a:xfrm>
          <a:prstGeom prst="roundRect">
            <a:avLst/>
          </a:prstGeom>
          <a:solidFill>
            <a:srgbClr val="87A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新手務農 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74720"/>
            <a:ext cx="2286000" cy="731520"/>
          </a:xfrm>
          <a:prstGeom prst="roundRect">
            <a:avLst/>
          </a:prstGeom>
          <a:solidFill>
            <a:srgbClr val="5B7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青農創業 Pro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2286000" cy="731520"/>
          </a:xfrm>
          <a:prstGeom prst="roundRect">
            <a:avLst/>
          </a:prstGeom>
          <a:solidFill>
            <a:srgbClr val="C17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資深農友 Senior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303520"/>
            <a:ext cx="2286000" cy="73152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一般公眾 Public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828800"/>
            <a:ext cx="1097280" cy="640080"/>
          </a:xfrm>
          <a:prstGeom prst="roundRect">
            <a:avLst/>
          </a:prstGeom>
          <a:solidFill>
            <a:srgbClr val="5C86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  <a:br/>
            <a:r>
              <a:t>關於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1097280" cy="640080"/>
          </a:xfrm>
          <a:prstGeom prst="roundRect">
            <a:avLst/>
          </a:prstGeom>
          <a:solidFill>
            <a:srgbClr val="5C86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  <a:br/>
            <a:r>
              <a:t>職安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828800"/>
            <a:ext cx="1097280" cy="640080"/>
          </a:xfrm>
          <a:prstGeom prst="roundRect">
            <a:avLst/>
          </a:prstGeom>
          <a:solidFill>
            <a:srgbClr val="5C86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  <a:br/>
            <a:r>
              <a:t>健康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828800"/>
            <a:ext cx="1097280" cy="640080"/>
          </a:xfrm>
          <a:prstGeom prst="roundRect">
            <a:avLst/>
          </a:prstGeom>
          <a:solidFill>
            <a:srgbClr val="5C86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04</a:t>
            </a:r>
            <a:br/>
            <a:r>
              <a:t>保險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1097280" cy="640080"/>
          </a:xfrm>
          <a:prstGeom prst="roundRect">
            <a:avLst/>
          </a:prstGeom>
          <a:solidFill>
            <a:srgbClr val="5C86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05</a:t>
            </a:r>
            <a:br/>
            <a:r>
              <a:t>培力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1828800"/>
            <a:ext cx="1097280" cy="640080"/>
          </a:xfrm>
          <a:prstGeom prst="roundRect">
            <a:avLst/>
          </a:prstGeom>
          <a:solidFill>
            <a:srgbClr val="5C86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06</a:t>
            </a:r>
            <a:br/>
            <a:r>
              <a:t>倡議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07040" y="1828800"/>
            <a:ext cx="1097280" cy="640080"/>
          </a:xfrm>
          <a:prstGeom prst="roundRect">
            <a:avLst/>
          </a:prstGeom>
          <a:solidFill>
            <a:srgbClr val="5C86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07</a:t>
            </a:r>
            <a:br/>
            <a:r>
              <a:t>研究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560320"/>
            <a:ext cx="8641080" cy="3657600"/>
          </a:xfrm>
          <a:prstGeom prst="rect">
            <a:avLst/>
          </a:prstGeom>
          <a:solidFill>
            <a:srgbClr val="E3E9D8"/>
          </a:solidFill>
          <a:ln w="12700">
            <a:solidFill>
              <a:srgbClr val="5C86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i="1">
                <a:solidFill>
                  <a:srgbClr val="4A6B05"/>
                </a:solidFill>
              </a:defRPr>
            </a:pPr>
            <a:br/>
            <a:br/>
            <a:r>
              <a:t>依使用者身分</a:t>
            </a:r>
            <a:br/>
            <a:r>
              <a:t>動態撈取對應縱軸模組的精選內容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橫軸 = 分眾入口（依生命週期）　　縱軸 = 結構化資料庫（依知識領域）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尊嚴農業 — 農業健康與安全知識樞紐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86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6B05"/>
                </a:solidFill>
              </a:defRPr>
            </a:pPr>
            <a:r>
              <a:t>橫軸：四大分眾入口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828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分眾</a:t>
                      </a:r>
                    </a:p>
                  </a:txBody>
                  <a:tcPr>
                    <a:solidFill>
                      <a:srgbClr val="5C860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定位</a:t>
                      </a:r>
                    </a:p>
                  </a:txBody>
                  <a:tcPr>
                    <a:solidFill>
                      <a:srgbClr val="5C860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主色調</a:t>
                      </a:r>
                    </a:p>
                  </a:txBody>
                  <a:tcPr>
                    <a:solidFill>
                      <a:srgbClr val="5C860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介面模式</a:t>
                      </a:r>
                    </a:p>
                  </a:txBody>
                  <a:tcPr>
                    <a:solidFill>
                      <a:srgbClr val="5C860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核心功能</a:t>
                      </a:r>
                    </a:p>
                  </a:txBody>
                  <a:tcPr>
                    <a:solidFill>
                      <a:srgbClr val="5C860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新手務農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防禦包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鼠尾草綠 #87AE73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檢核清單 + 進度條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務農風險快篩表 → PPE 型錄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青農創業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升級包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板岩藍 #5B7FA6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儀表板 + 比較圖表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投資報酬率 + 退休金試算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資深農友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樂活包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陶土橘 #C17F5E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Mobile-First + App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找醫師・算津貼・看影片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一般公眾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認同包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麥穗黃 #D4A017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敘事性滾動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攝影紀實 + Podcast + 倡議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尊嚴農業 — 農業健康與安全知識樞紐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86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6B05"/>
                </a:solidFill>
              </a:defRPr>
            </a:pPr>
            <a:r>
              <a:t>新手務農 — 防禦包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828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開場震撼：「你知道農業是全台最危險的職業之一嗎？」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設計策略：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鼠尾草綠（Sage Green）— 傳遞穩健、安全感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左側固定導覽步驟，右側動態表單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首屏強制顯示「務農風險快篩表」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關鍵數據：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5× — 農業致死率是全行業平均的 5 倍（CDC/NIOSH）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29% — 農業傷害由跌倒造成（CDC/NIOSH）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38.5 萬 — 全球每年農藥急性中毒人數（ILO）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尊嚴農業 — 農業健康與安全知識樞紐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86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6B05"/>
                </a:solidFill>
              </a:defRPr>
            </a:pPr>
            <a:r>
              <a:t>青農創業 — 升級包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828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開場共鳴：「你已經在田裡了。十年後你的身體還撐得住嗎？」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設計策略：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板岩藍（Slate Blue）— 科技感、數據導向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左側：省工農機投資報酬率量化圖表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右側：農民退休儲金 vs. 勞保高階比較試算器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關鍵數據：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67.3 歲 — 農保被保險人平均年齡（台灣農保統計）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1/3 ～ 1/2 — 農機政府補助比例（農業部農糧署）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30% — 農民職業災害保險投保率（勞保局統計）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尊嚴農業 — 農業健康與安全知識樞紐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86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6B05"/>
                </a:solidFill>
              </a:defRPr>
            </a:pPr>
            <a:r>
              <a:t>資深農友 — 樂活包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828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開場糾正：「腰痛不是老了，是工作在傷害你。」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設計策略：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陶土橘（Terracotta）— 溫暖、高對比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Mobile-First + App-like Interface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最小字體 18px、最小按鈕高度 48px 觸控熱區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底部固定導覽（三大入口）：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找醫師（地圖）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算津貼（計算機）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看影片（微學習）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個案故事：曾女士 — 民雄農友，40 年務農後成功申請職傷給付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尊嚴農業 — 農業健康與安全知識樞紐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86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6B05"/>
                </a:solidFill>
              </a:defRPr>
            </a:pPr>
            <a:r>
              <a:t>一般公眾 — 認同包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828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開場連結：「你在超市拿起的平價蔬果，種它的人正忍著腰痛。」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設計策略：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麥穗黃（Harvest Gold）— 農鄉共感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敘事性滾動（Scrollytelling）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滿版高畫質雲嘉農鄉紀實攝影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特色元素：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雲嘉農業職災熱力圖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高齡化數據資訊圖表（Infographics）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Podcast 播放器 — 農民訪談錄音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引言：陳宗延醫師（臺大醫院雲林分院）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「農民沒有慣老闆，但他們有兩個更殘酷的超級老闆：天氣和市場。」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尊嚴農業 — 農業健康與安全知識樞紐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86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6B05"/>
                </a:solidFill>
              </a:defRPr>
            </a:pPr>
            <a:r>
              <a:t>縱軸：七大資料庫主選單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828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編號</a:t>
                      </a:r>
                    </a:p>
                  </a:txBody>
                  <a:tcPr>
                    <a:solidFill>
                      <a:srgbClr val="5C860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模組名稱</a:t>
                      </a:r>
                    </a:p>
                  </a:txBody>
                  <a:tcPr>
                    <a:solidFill>
                      <a:srgbClr val="5C860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介面類型</a:t>
                      </a:r>
                    </a:p>
                  </a:txBody>
                  <a:tcPr>
                    <a:solidFill>
                      <a:srgbClr val="5C860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核心功能</a:t>
                      </a:r>
                    </a:p>
                  </a:txBody>
                  <a:tcPr>
                    <a:solidFill>
                      <a:srgbClr val="5C860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關於計畫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靜態資訊 + 多媒體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團隊卡片 + 互動地圖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職業安全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網格卡片 + 互動工具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NIOSH 控制層級 + 紅綠燈風險評估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健康促進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地理資訊 + 影音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互動人體圖 + 職醫地圖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經濟與保險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圖解 + 試算工具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保險試算器 + 法規懶人包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培力與實踐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輕量 LMS + 行事曆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影片網格 + 工作坊報名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尊嚴農業倡議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單頁式深度專題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垂直時間軸 + 政策連署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研究成果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學術資料庫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APA 7 文獻 + Podcast 嵌入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尊嚴農業 — 農業健康與安全知識樞紐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86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6B05"/>
                </a:solidFill>
              </a:defRPr>
            </a:pPr>
            <a:r>
              <a:t>02 職業安全模組 — 深度解析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828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頁面結構：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Hero 區塊（標題 + 數據呼叫盒）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Tabs 切換：省工農機｜個人防護具 PPE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Grid Cards 數位型錄（含 PDF 圖卡下載）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風險評估工具區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互動工具：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紅綠燈快篩系統 — 高（紅）/ 中（橘）/ 低（綠）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NIOSH 五層安全控制層級動態圖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四大危害深度檢核：生物・物理・化學・人因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子頁面：溫室專區｜省工農機具｜個人防護具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數據佐證：CDC/NIOSH 18.6/10 萬 FTE 致死率、BLS 拖拉機翻覆為首因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尊嚴農業 — 農業健康與安全知識樞紐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86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A6B05"/>
                </a:solidFill>
              </a:defRPr>
            </a:pPr>
            <a:r>
              <a:t>03 健康促進 &amp; 04 經濟與保險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828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C8607"/>
                </a:solidFill>
              </a:defRPr>
            </a:pPr>
            <a:r>
              <a:t>03 健康促進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t>互動式人體圖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t>  → 點擊腰/膝/肩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t>  → Modal 播放復健 GIF/影片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t>職醫地圖（Google Maps API）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t>  → 勞動部認可診治網絡醫院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t>  → 一鍵導航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t>即時氣象高溫警報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t>急救紅卡（可下載列印）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C8607"/>
                </a:solidFill>
              </a:defRPr>
            </a:pPr>
            <a:r>
              <a:t>04 經濟與保險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t>互動試算工具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t>  → 輸入年齡/年資/傷病類型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t>  → 輸出可申請補助或理賠估算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t>涵蓋險種：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t>  → 職災保險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t>  → 農保・老農津貼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t>  → 農業保險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t>法規→步驟懶人包（流程圖）</a:t>
            </a:r>
          </a:p>
          <a:p>
            <a:pPr>
              <a:spcAft>
                <a:spcPts val="600"/>
              </a:spcAft>
              <a:defRPr sz="1400">
                <a:solidFill>
                  <a:srgbClr val="1F2937"/>
                </a:solidFill>
              </a:defRPr>
            </a:pPr>
            <a:r>
              <a:t>退休金試算表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尊嚴農業 — 農業健康與安全知識樞紐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86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6B05"/>
                </a:solidFill>
              </a:defRPr>
            </a:pPr>
            <a:r>
              <a:t>05 培力與實踐 ｜ 06 倡議 ｜ 07 研究成果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828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05 培力與實踐（農學堂）：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影片網格（Video Grid）— 每支標示時長與難易度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工作坊清單 — 雲嘉近期線下課程 + 內建報名表單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06 尊嚴農業倡議：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垂直時間軸（Vertical Timeline）— 串接倡議行動歷程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焦點團體會議紀錄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頁面底部：政策連署 + 社群分享按鈕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07 研究成果：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嚴格 APA 第 7 版格式排版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每筆文獻附 [PDF 下載, X.X MB] 按鈕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整合 Spotify / Apple Podcast 嵌入代碼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子頁面：下載專區｜圖文資訊｜Podcast｜相關資源｜研究出版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尊嚴農業 — 農業健康與安全知識樞紐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86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6B05"/>
                </a:solidFill>
              </a:defRPr>
            </a:pPr>
            <a:r>
              <a:t>設計系統 — 色彩與字型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828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828800" cy="914400"/>
          </a:xfrm>
          <a:prstGeom prst="roundRect">
            <a:avLst/>
          </a:prstGeom>
          <a:solidFill>
            <a:srgbClr val="5C86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尊嚴綠</a:t>
            </a:r>
            <a:br/>
            <a:r>
              <a:t>#5C8607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554480"/>
            <a:ext cx="1828800" cy="914400"/>
          </a:xfrm>
          <a:prstGeom prst="roundRect">
            <a:avLst/>
          </a:prstGeom>
          <a:solidFill>
            <a:srgbClr val="4A6B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深尊嚴綠</a:t>
            </a:r>
            <a:br/>
            <a:r>
              <a:t>#4A6B05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554480"/>
            <a:ext cx="1828800" cy="91440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稻金黃</a:t>
            </a:r>
            <a:br/>
            <a:r>
              <a:t>#D4A017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554480"/>
            <a:ext cx="1828800" cy="914400"/>
          </a:xfrm>
          <a:prstGeom prst="roundRect">
            <a:avLst/>
          </a:prstGeom>
          <a:solidFill>
            <a:srgbClr val="E3E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F2937"/>
                </a:solidFill>
              </a:defRPr>
            </a:pPr>
            <a:r>
              <a:t>背景色</a:t>
            </a:r>
            <a:br/>
            <a:r>
              <a:t>#E3E9D8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1828800" cy="914400"/>
          </a:xfrm>
          <a:prstGeom prst="roundRect">
            <a:avLst/>
          </a:prstGeom>
          <a:solidFill>
            <a:srgbClr val="87A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新手務農</a:t>
            </a:r>
            <a:br/>
            <a:r>
              <a:t>鼠尾草綠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743200"/>
            <a:ext cx="1828800" cy="914400"/>
          </a:xfrm>
          <a:prstGeom prst="roundRect">
            <a:avLst/>
          </a:prstGeom>
          <a:solidFill>
            <a:srgbClr val="5B7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青農創業</a:t>
            </a:r>
            <a:br/>
            <a:r>
              <a:t>板岩藍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743200"/>
            <a:ext cx="1828800" cy="914400"/>
          </a:xfrm>
          <a:prstGeom prst="roundRect">
            <a:avLst/>
          </a:prstGeom>
          <a:solidFill>
            <a:srgbClr val="C17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資深農友</a:t>
            </a:r>
            <a:br/>
            <a:r>
              <a:t>陶土橘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743200"/>
            <a:ext cx="1828800" cy="91440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一般公眾</a:t>
            </a:r>
            <a:br/>
            <a:r>
              <a:t>麥穗黃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31920"/>
            <a:ext cx="146304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L1 消除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3931920"/>
            <a:ext cx="1463040" cy="6400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L2 取代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3931920"/>
            <a:ext cx="146304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L3 工程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3931920"/>
            <a:ext cx="146304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L4 行政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3931920"/>
            <a:ext cx="1463040" cy="64008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L5 PPE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463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字型系統：Noto Sans TC（中文）｜Lato（英數）｜Lora（內文裝飾）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圖示庫：Font Awesome 6.4.x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視覺風格：功能性柔和色系（Functional Pastels）</a:t>
            </a:r>
          </a:p>
          <a:p>
            <a:pPr>
              <a:spcAft>
                <a:spcPts val="400"/>
              </a:spcAft>
              <a:defRPr sz="1400">
                <a:solidFill>
                  <a:srgbClr val="1F2937"/>
                </a:solidFill>
              </a:defRPr>
            </a:pPr>
            <a:r>
              <a:t>CSS 設計 Token：所有色碼透過 :root 變數統一管理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尊嚴農業 — 農業健康與安全知識樞紐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86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6B05"/>
                </a:solidFill>
              </a:defRPr>
            </a:pPr>
            <a:r>
              <a:t>技術架構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828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平台基礎：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WordPress CMS + Astra 主題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HTML 區塊直貼 WordPress 程式碼編輯器（無需額外部署）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前端技術：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純 HTML/CSS — 無需 build 工具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CSS Custom Properties（設計 Token）統一管理全站樣式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CSS 前綴隔離策略（如 gh- / mach- / ppe-）防止跨頁衝突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Google Fonts CDN + Font Awesome 6.4.x CDN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後端功能：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PHP Shortcodes — 新聞迴圈、Podcast 網格、天氣小工具、FB 動態牆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WordPress 文章分類系統（階層式 slug）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WP_Query 依分類動態撈取內容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WordPress 嵌入規範：禁止 body/html/全域重置等覆蓋主題樣式的寫法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尊嚴農業 — 農業健康與安全知識樞紐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86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6B05"/>
                </a:solidFill>
              </a:defRPr>
            </a:pPr>
            <a:r>
              <a:t>程式碼倉庫結構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828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farmerwordpress/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docs/          — 架構藍圖、設計規格文件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css/           — global.css 全站設計 Token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pages/         — 各頁面 HTML 區塊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├── About/            — 01 關於計畫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├── occupational-safety/ — 02 職業安全（含子頁）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├── beginner-farmers/  — 新手務農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├── young-farmers/     — 青農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├── Public/            — 一般民眾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  └── shared/            — 共用元件（sidebar）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shortcodes/    — WordPress PHP 短代碼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scripts/       — 部署與匯入腳本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imports/       — 批次匯入 HTML 暫存區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PHP Shortcodes：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新聞迴圈（my_news_loop）｜Podcast 網格（knowledge_podcast_grid）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天氣小工具（weather_widget）｜FB 動態牆（fb_feed_widget）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首頁亮點輪播（home_highlight_slider）｜雜誌式新聞版面（news_magazine_layout）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尊嚴農業 — 農業健康與安全知識樞紐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86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6B05"/>
                </a:solidFill>
              </a:defRPr>
            </a:pPr>
            <a:r>
              <a:t>學術嚴謹度與數據治理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828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引用規範：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所有文獻嚴格遵守 APA 第 7 版格式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系統性排除中國大陸來源數據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以台灣本土實證 + 日韓澳相似高齡農業背景研究為學術基石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國際權威機構引用清單：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CDC/NIOSH — 農業安全統計、控制層級、抬舉方程式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OSHA — 農業危害與控制、熱傷害預防、PPE 標準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BLS — 致命職業傷害普查（CFOI）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WHO — 農藥安全（2022）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ILO — 農業安全與健康（2023）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台灣本土數據：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農保統計（平均年齡 67.3 歲）｜勞保局（投保率 30%）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農業部農糧署（農機補助）｜勞動部職安署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尊嚴農業 — 農業健康與安全知識樞紐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86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6B05"/>
                </a:solidFill>
              </a:defRPr>
            </a:pPr>
            <a:r>
              <a:t>開發進度路線圖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828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560320" cy="4114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Phase 1</a:t>
            </a:r>
          </a:p>
          <a:p>
            <a:pPr algn="ctr">
              <a:defRPr sz="1400">
                <a:solidFill>
                  <a:srgbClr val="EEEEEE"/>
                </a:solidFill>
              </a:defRPr>
            </a:pPr>
            <a:r>
              <a:t>已完成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─────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首頁：身分導航 + 三大核心主題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560320" cy="4114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Phase 2</a:t>
            </a:r>
          </a:p>
          <a:p>
            <a:pPr algn="ctr">
              <a:defRPr sz="1400">
                <a:solidFill>
                  <a:srgbClr val="EEEEEE"/>
                </a:solidFill>
              </a:defRPr>
            </a:pPr>
            <a:r>
              <a:t>進行中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─────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職業安全頁面重建</a:t>
            </a:r>
            <a:br/>
            <a:r>
              <a:t>（主頁 + 溫室 + 省工農機 + PPE）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2560320" cy="4114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Phase 3</a:t>
            </a:r>
          </a:p>
          <a:p>
            <a:pPr algn="ctr">
              <a:defRPr sz="1400">
                <a:solidFill>
                  <a:srgbClr val="EEEEEE"/>
                </a:solidFill>
              </a:defRPr>
            </a:pPr>
            <a:r>
              <a:t>待啟動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─────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健康促進</a:t>
            </a:r>
            <a:br/>
            <a:r>
              <a:t>（人體圖 + 職醫地圖）</a:t>
            </a:r>
            <a:br/>
            <a:r>
              <a:t>經濟試算器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645920"/>
            <a:ext cx="2560320" cy="4114800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Phase 4</a:t>
            </a:r>
          </a:p>
          <a:p>
            <a:pPr algn="ctr">
              <a:defRPr sz="1400">
                <a:solidFill>
                  <a:srgbClr val="EEEEEE"/>
                </a:solidFill>
              </a:defRPr>
            </a:pPr>
            <a:r>
              <a:t>規劃中</a:t>
            </a:r>
          </a:p>
          <a:p>
            <a:pPr algn="ctr">
              <a:defRPr sz="1000">
                <a:solidFill>
                  <a:srgbClr val="CCCCCC"/>
                </a:solidFill>
              </a:defRPr>
            </a:pPr>
            <a:r>
              <a:t>─────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分眾入口頁面</a:t>
            </a:r>
            <a:br/>
            <a:r>
              <a:t>農學堂 LMS</a:t>
            </a:r>
            <a:br/>
            <a:r>
              <a:t>研究成果資料庫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尊嚴農業 — 農業健康與安全知識樞紐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C86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A6B05"/>
                </a:solidFill>
              </a:defRPr>
            </a:pPr>
            <a:r>
              <a:t>社會影響力與政策連結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8288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覆蓋範圍：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嘉義縣民雄鄉為核心實踐場域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雲嘉地區農業工作者為主要服務對象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全球 8.79 億農業勞動者的共通議題（ILO）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政策對接：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勞動部 — 農民職業災害保險制度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農業部 — 農機補助、農民退休儲金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衛福部 — 職業傷病診治網絡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跨國比較研究：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日本 — 高齡農業社會安全網經驗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韓國 — 農業職業健康政策</a:t>
            </a:r>
          </a:p>
          <a:p>
            <a:pPr lvl="1"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澳洲 — 農場安全標準</a:t>
            </a: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F2937"/>
                </a:solidFill>
              </a:defRPr>
            </a:pPr>
            <a:r>
              <a:t>知識樞紐定位：連結學術研究、政策推動、田間實務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尊嚴農業 — 農業健康與安全知識樞紐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86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讓每一位農業工作者</a:t>
            </a:r>
            <a:br/>
            <a:r>
              <a:t>都能有尊嚴地工作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DDEDBB"/>
                </a:solidFill>
              </a:defRPr>
            </a:pPr>
            <a:r>
              <a:t>農業尊嚴：共建雲嘉農業工作者職業健康社會安全網</a:t>
            </a:r>
            <a:br/>
            <a:br/>
            <a:r>
              <a:t>感謝聆聽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